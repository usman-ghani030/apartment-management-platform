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OmniHome is a multi-tenant SaaS platform for residential society management. This deck walks through the problem it solves, what was built across Phases 0 through 9, and the technology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 starts from how societies actually run: WhatsApp for announcements, a paper gate register, a spreadsheet for dues. Each of these works alone and fails together. The five consequences below come directly from the original problem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mapping below comes from the real feature set: published notices replace WhatsApp blasts, invoices replace spreadsheet dues, QR visitor passes replace the paper register, and tickets replace verbal complaints.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inventory of what shipped across Phases 0 through 9, grouped by the daily problem each module solves.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backend is Express on Node.js with TypeScript. The database is PostgreSQL with Prisma ORM. Redis handles BullMQ job queues. Payments go through Safepay behind a provider interface. Email is Nodemailer over Gmail SMTP. Deployed on Vercel and 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simplified request path: the browser talks to Express over HTTPS with JWT in HTTP-only cookies. Every request passes Zod validation, a permission check, tenant-scoped database access, and an audit log write before a response goes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things that push this past a basic CRUD app: structural tenant isolation, an audit trail as infrastructure, vendor ratings tied to ticket outcomes, and soft-deleted records that preserve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decisions made once and enforced everywhere: five roles with one permission gate, hashed tokens at rest, Zod validation at every boundary, and Google sign-in verified server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Phases 0 through 9 are complete, each shipped with automated tests and a manual test guide before the next started. Phase 10, the AI layer, is the next major piece of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clean close with the key facts: one workspace per society, live demo available, free for up to 15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image" Target="../media/image-9-1.png"/><Relationship Id="rId8" Type="http://schemas.openxmlformats.org/officeDocument/2006/relationships/image" Target="../media/image-9-1.png"/><Relationship Id="rId9" Type="http://schemas.openxmlformats.org/officeDocument/2006/relationships/image" Target="../media/image-9-1.png"/><Relationship Id="rId10" Type="http://schemas.openxmlformats.org/officeDocument/2006/relationships/image" Target="../media/image-9-1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4114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00" dirty="0"/>
          </a:p>
        </p:txBody>
      </p:sp>
      <p:pic>
        <p:nvPicPr>
          <p:cNvPr id="4" name="Image 0" descr="C:\Users\HP\Desktop\apartment-management\tools\deck\assets\icons\omnihom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04672"/>
            <a:ext cx="658368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45920" y="786384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OmniHome</a:t>
            </a:r>
            <a:endParaRPr lang="en-US" sz="4600" dirty="0"/>
          </a:p>
        </p:txBody>
      </p:sp>
      <p:sp>
        <p:nvSpPr>
          <p:cNvPr id="6" name="Text 2"/>
          <p:cNvSpPr/>
          <p:nvPr/>
        </p:nvSpPr>
        <p:spPr>
          <a:xfrm>
            <a:off x="822960" y="1572768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community management for apartment societies. Notices, maintenance, dues, bookings, visitors, and voting in one platform, with an isolated workspace per society.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22960" y="2542032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0 through 9 complete  ·  Live on Vercel and Render  ·  Free for societies up to 15 units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7406640" y="658368"/>
            <a:ext cx="4023360" cy="5440680"/>
          </a:xfrm>
          <a:prstGeom prst="roundRect">
            <a:avLst>
              <a:gd name="adj" fmla="val 1818"/>
            </a:avLst>
          </a:prstGeom>
          <a:solidFill>
            <a:srgbClr val="EFF6FF"/>
          </a:solidFill>
          <a:ln w="9525">
            <a:solidFill>
              <a:srgbClr val="D6E4FA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589520" y="8412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role-based views, one shared record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635240" y="12344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818120" y="1399032"/>
            <a:ext cx="384048" cy="38404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2" name="Image 1" descr="C:\Users\HP\Desktop\apartment-management\tools\deck\assets\icons\ic-clipboard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147218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66760" y="13807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admin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366760" y="16916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society: posts notices, assigns tickets, collects dues, sees everything.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635240" y="28803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818120" y="3044952"/>
            <a:ext cx="384048" cy="38404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7" name="Image 2" descr="C:\Users\HP\Desktop\apartment-management\tools\deck\assets\icons\ic-mega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2" y="311810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66760" y="30266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366760" y="33375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tickets with photos, pays dues, books amenities, votes in polls.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635240" y="45262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818120" y="4690872"/>
            <a:ext cx="384048" cy="38404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2" name="Image 3" descr="C:\Users\HP\Desktop\apartment-management\tools\deck\assets\icons\ic-shield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476402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366760" y="467258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8366760" y="49834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QR visitor passes at the gate, logs check-in and check-out.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7772400" y="5806440"/>
            <a:ext cx="3474720" cy="0"/>
          </a:xfrm>
          <a:prstGeom prst="line">
            <a:avLst/>
          </a:prstGeom>
          <a:noFill/>
          <a:ln w="9525">
            <a:solidFill>
              <a:srgbClr val="D6E4FA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635240" y="58704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manages  ·  Resident uses  ·  Guard verifies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Societies run on WhatsApp, paper, and memory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apartment committees actually operate today.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OmniHome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66928" y="1664208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AF9F8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76656" y="17830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WhatsApp group carries every announcement.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register sits at the gate. The treasurer tracks dues in a spreadsheet that only makes sense to the treasurer.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54880" y="1847088"/>
            <a:ext cx="384048" cy="38404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1" name="Image 0" descr="C:\Users\HP\Desktop\apartment-management\tools\deck\assets\icons\ic-mega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92024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773936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get buried.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303520" y="2048256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announcement posted at 2pm is unread by evening, lost under a hundred chat messages.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54880" y="2761488"/>
            <a:ext cx="384048" cy="38404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5" name="Image 1" descr="C:\Users\HP\Desktop\apartment-management\tools\deck\assets\icons\ic-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83464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03520" y="2688336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has no owner.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303520" y="2962656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complaint raised verbally has no status, no history, and no one accountable.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3675888"/>
            <a:ext cx="384048" cy="38404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9" name="Image 2" descr="C:\Users\HP\Desktop\apartment-management\tools\deck\assets\icons\ic-shield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3749040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03520" y="3602736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runs on handwriting.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303520" y="3877056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logs are incomplete, and verifying a visitor slows the line.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754880" y="4590288"/>
            <a:ext cx="384048" cy="38404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3" name="Image 3" descr="C:\Users\HP\Desktop\apartment-management\tools\deck\assets\icons\ic-credit-c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4663440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03520" y="4517136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invite disputes.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303520" y="4791456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and the committee keep different records of what was paid and when.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754880" y="5504688"/>
            <a:ext cx="384048" cy="38404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7" name="Image 4" descr="C:\Users\HP\Desktop\apartment-management\tools\deck\assets\icons\ic-scroll-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5577840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03520" y="5431536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leave with the committee.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5303520" y="5705856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members rotate, minutes and financial history go with them.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 per society, three role-based views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committee already does, moved onto a shared record with clear roles.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OmniHome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66928" y="1664208"/>
            <a:ext cx="54146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94944" y="1792224"/>
            <a:ext cx="365760" cy="36576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0" name="Image 0" descr="C:\Users\HP\Desktop\apartment-management\tools\deck\assets\icons\ic-mega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85623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1792224"/>
            <a:ext cx="4646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WhatsApp blast nobody can search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170432" y="215798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170432" y="2468880"/>
            <a:ext cx="46465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notices with read receipts and unit-level targeting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0148" y="1664208"/>
            <a:ext cx="54146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8164" y="1792224"/>
            <a:ext cx="365760" cy="36576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6" name="Image 1" descr="C:\Users\HP\Desktop\apartment-management\tools\deck\assets\icons\ic-credit-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172" y="185623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3652" y="1792224"/>
            <a:ext cx="4646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 tracked in a private spreadsheet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813652" y="215798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813652" y="2468880"/>
            <a:ext cx="46465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with online payment, reminders, and shared history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66928" y="3493008"/>
            <a:ext cx="54146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4944" y="3621024"/>
            <a:ext cx="365760" cy="36576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2" name="Image 2" descr="C:\Users\HP\Desktop\apartment-management\tools\deck\assets\icons\ic-scan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685032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70432" y="3621024"/>
            <a:ext cx="4646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register at the gate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70432" y="398678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1170432" y="4297680"/>
            <a:ext cx="46465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visitor passes scanned and time-stamped at the gate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210148" y="3493008"/>
            <a:ext cx="54146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338164" y="3621024"/>
            <a:ext cx="365760" cy="36576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8" name="Image 3" descr="C:\Users\HP\Desktop\apartment-management\tools\deck\assets\icons\ic-wren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172" y="3685032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813652" y="3621024"/>
            <a:ext cx="4646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raised verbally in passing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6813652" y="398678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6813652" y="4297680"/>
            <a:ext cx="46465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with photos, an assignee, and a visible status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566928" y="539496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Admins, residents, and guards each see what their role needs, backed by the same data.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OmniHome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66928" y="1517904"/>
            <a:ext cx="541919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" y="1645920"/>
            <a:ext cx="365760" cy="36576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9" name="Image 0" descr="C:\Users\HP\Desktop\apartment-management\tools\deck\assets\icons\ic-mega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099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1645920"/>
            <a:ext cx="464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68096" y="2048256"/>
            <a:ext cx="50168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Notices with drafts, read receipts, and unit-level targeting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68096" y="2395728"/>
            <a:ext cx="50168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Resident directory with unit and contact detail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68096" y="2743200"/>
            <a:ext cx="50168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Document folders for bylaws and meeting minutes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05576" y="1517904"/>
            <a:ext cx="541919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3592" y="1645920"/>
            <a:ext cx="365760" cy="36576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6" name="Image 1" descr="C:\Users\HP\Desktop\apartment-management\tools\deck\assets\icons\ic-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600" y="170992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09080" y="1645920"/>
            <a:ext cx="464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6744" y="2048256"/>
            <a:ext cx="50168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Maintenance tickets with photos, comments, and status lifecycle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406744" y="2395728"/>
            <a:ext cx="50168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Amenity bookings with conflict prevention and rules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6744" y="2743200"/>
            <a:ext cx="50168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Parcels logged on arrival, collected with a tap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06744" y="3090672"/>
            <a:ext cx="50168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QR visitor passes with gate check-in and check-out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66928" y="3803904"/>
            <a:ext cx="541919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4944" y="3931920"/>
            <a:ext cx="365760" cy="36576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4" name="Image 2" descr="C:\Users\HP\Desktop\apartment-management\tools\deck\assets\icons\ic-credit-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995928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70432" y="3931920"/>
            <a:ext cx="464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68096" y="4334256"/>
            <a:ext cx="50168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Invoices per unit with online Safepay checkout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68096" y="4681728"/>
            <a:ext cx="50168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Automated reminders before due dates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68096" y="5029200"/>
            <a:ext cx="50168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Recurring monthly billing on a configurable schedule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68096" y="5376672"/>
            <a:ext cx="50168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Dispute flags with admin resolution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205576" y="3803904"/>
            <a:ext cx="541919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333592" y="3931920"/>
            <a:ext cx="365760" cy="36576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32" name="Image 3" descr="C:\Users\HP\Desktop\apartment-management\tools\deck\assets\icons\ic-shield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600" y="3995928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809080" y="3931920"/>
            <a:ext cx="464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safety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6406744" y="4334256"/>
            <a:ext cx="50168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Polls with one vote per unit enforced in the schema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6406744" y="4681728"/>
            <a:ext cx="50168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SOS alerts that reach admins and guards instantly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6406744" y="5029200"/>
            <a:ext cx="50168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Staff directory with on-duty visibility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6406744" y="5376672"/>
            <a:ext cx="50168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Transfer clearance that blocks on unpaid dues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parts, chosen for boring reliability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uses widely documented, widely hired-for technology.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OmniHome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66928" y="1664208"/>
            <a:ext cx="2174992" cy="3383280"/>
          </a:xfrm>
          <a:prstGeom prst="roundRect">
            <a:avLst>
              <a:gd name="adj" fmla="val 3363"/>
            </a:avLst>
          </a:prstGeom>
          <a:solidFill>
            <a:srgbClr val="FAF9F8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" y="1773936"/>
            <a:ext cx="199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pic>
        <p:nvPicPr>
          <p:cNvPr id="10" name="Image 0" descr="C:\Users\HP\Desktop\apartment-management\tools\deck\assets\icons\nextj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2400" y="2121408"/>
            <a:ext cx="384048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1792" y="2523744"/>
            <a:ext cx="206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000" dirty="0"/>
          </a:p>
        </p:txBody>
      </p:sp>
      <p:pic>
        <p:nvPicPr>
          <p:cNvPr id="12" name="Image 1" descr="C:\Users\HP\Desktop\apartment-management\tools\deck\assets\icons\typescri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400" y="2743200"/>
            <a:ext cx="384048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2" y="3145536"/>
            <a:ext cx="206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pic>
        <p:nvPicPr>
          <p:cNvPr id="14" name="Image 2" descr="C:\Users\HP\Desktop\apartment-management\tools\deck\assets\icons\tailwindc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400" y="3364992"/>
            <a:ext cx="384048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1792" y="3767328"/>
            <a:ext cx="206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2778496" y="1664208"/>
            <a:ext cx="2174992" cy="3383280"/>
          </a:xfrm>
          <a:prstGeom prst="roundRect">
            <a:avLst>
              <a:gd name="adj" fmla="val 3363"/>
            </a:avLst>
          </a:prstGeom>
          <a:solidFill>
            <a:srgbClr val="FAF9F8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2869936" y="1773936"/>
            <a:ext cx="199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pic>
        <p:nvPicPr>
          <p:cNvPr id="18" name="Image 3" descr="C:\Users\HP\Desktop\apartment-management\tools\deck\assets\icons\nodedotj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3968" y="2121408"/>
            <a:ext cx="384048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833360" y="2523744"/>
            <a:ext cx="206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pic>
        <p:nvPicPr>
          <p:cNvPr id="20" name="Image 4" descr="C:\Users\HP\Desktop\apartment-management\tools\deck\assets\icons\expre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3968" y="2743200"/>
            <a:ext cx="384048" cy="34747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833360" y="3145536"/>
            <a:ext cx="206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4990064" y="1664208"/>
            <a:ext cx="2174992" cy="3383280"/>
          </a:xfrm>
          <a:prstGeom prst="roundRect">
            <a:avLst>
              <a:gd name="adj" fmla="val 3363"/>
            </a:avLst>
          </a:prstGeom>
          <a:solidFill>
            <a:srgbClr val="FAF9F8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23" name="Text 15"/>
          <p:cNvSpPr/>
          <p:nvPr/>
        </p:nvSpPr>
        <p:spPr>
          <a:xfrm>
            <a:off x="5081504" y="1773936"/>
            <a:ext cx="199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JOBS</a:t>
            </a:r>
            <a:endParaRPr lang="en-US" sz="900" dirty="0"/>
          </a:p>
        </p:txBody>
      </p:sp>
      <p:pic>
        <p:nvPicPr>
          <p:cNvPr id="24" name="Image 5" descr="C:\Users\HP\Desktop\apartment-management\tools\deck\assets\icons\postgresq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5536" y="2121408"/>
            <a:ext cx="384048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044928" y="2523744"/>
            <a:ext cx="206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pic>
        <p:nvPicPr>
          <p:cNvPr id="26" name="Image 6" descr="C:\Users\HP\Desktop\apartment-management\tools\deck\assets\icons\prism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5536" y="2743200"/>
            <a:ext cx="384048" cy="34747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044928" y="3145536"/>
            <a:ext cx="206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endParaRPr lang="en-US" sz="1000" dirty="0"/>
          </a:p>
        </p:txBody>
      </p:sp>
      <p:pic>
        <p:nvPicPr>
          <p:cNvPr id="28" name="Image 7" descr="C:\Users\HP\Desktop\apartment-management\tools\deck\assets\icons\redi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5536" y="3364992"/>
            <a:ext cx="384048" cy="34747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044928" y="3767328"/>
            <a:ext cx="206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30" name="Shape 19"/>
          <p:cNvSpPr/>
          <p:nvPr/>
        </p:nvSpPr>
        <p:spPr>
          <a:xfrm>
            <a:off x="5885536" y="3986784"/>
            <a:ext cx="384048" cy="384048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31" name="Text 20"/>
          <p:cNvSpPr/>
          <p:nvPr/>
        </p:nvSpPr>
        <p:spPr>
          <a:xfrm>
            <a:off x="5885536" y="3986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2" name="Text 21"/>
          <p:cNvSpPr/>
          <p:nvPr/>
        </p:nvSpPr>
        <p:spPr>
          <a:xfrm>
            <a:off x="5044928" y="4389120"/>
            <a:ext cx="206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7201632" y="1664208"/>
            <a:ext cx="2174992" cy="3383280"/>
          </a:xfrm>
          <a:prstGeom prst="roundRect">
            <a:avLst>
              <a:gd name="adj" fmla="val 3363"/>
            </a:avLst>
          </a:prstGeom>
          <a:solidFill>
            <a:srgbClr val="FAF9F8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34" name="Text 23"/>
          <p:cNvSpPr/>
          <p:nvPr/>
        </p:nvSpPr>
        <p:spPr>
          <a:xfrm>
            <a:off x="7293072" y="1773936"/>
            <a:ext cx="199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00" dirty="0"/>
          </a:p>
        </p:txBody>
      </p:sp>
      <p:pic>
        <p:nvPicPr>
          <p:cNvPr id="35" name="Image 8" descr="C:\Users\HP\Desktop\apartment-management\tools\deck\assets\icons\safepa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7103" y="2121408"/>
            <a:ext cx="384048" cy="347472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256496" y="2523744"/>
            <a:ext cx="206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Safepay</a:t>
            </a:r>
            <a:endParaRPr lang="en-US" sz="1000" dirty="0"/>
          </a:p>
        </p:txBody>
      </p:sp>
      <p:pic>
        <p:nvPicPr>
          <p:cNvPr id="37" name="Image 9" descr="C:\Users\HP\Desktop\apartment-management\tools\deck\assets\icons\cloudina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7103" y="2743200"/>
            <a:ext cx="384048" cy="34747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7256496" y="3145536"/>
            <a:ext cx="206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000" dirty="0"/>
          </a:p>
        </p:txBody>
      </p:sp>
      <p:pic>
        <p:nvPicPr>
          <p:cNvPr id="39" name="Image 10" descr="C:\Users\HP\Desktop\apartment-management\tools\deck\assets\icons\googl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7103" y="3364992"/>
            <a:ext cx="384048" cy="347472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7256496" y="3767328"/>
            <a:ext cx="206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</a:t>
            </a:r>
            <a:endParaRPr lang="en-US" sz="1000" dirty="0"/>
          </a:p>
        </p:txBody>
      </p:sp>
      <p:pic>
        <p:nvPicPr>
          <p:cNvPr id="41" name="Image 11" descr="C:\Users\HP\Desktop\apartment-management\tools\deck\assets\icons\gmai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7103" y="3986784"/>
            <a:ext cx="384048" cy="347472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7256496" y="4389120"/>
            <a:ext cx="206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</a:t>
            </a:r>
            <a:endParaRPr lang="en-US" sz="1000" dirty="0"/>
          </a:p>
        </p:txBody>
      </p:sp>
      <p:sp>
        <p:nvSpPr>
          <p:cNvPr id="43" name="Shape 28"/>
          <p:cNvSpPr/>
          <p:nvPr/>
        </p:nvSpPr>
        <p:spPr>
          <a:xfrm>
            <a:off x="9413199" y="1664208"/>
            <a:ext cx="2174992" cy="3383280"/>
          </a:xfrm>
          <a:prstGeom prst="roundRect">
            <a:avLst>
              <a:gd name="adj" fmla="val 3363"/>
            </a:avLst>
          </a:prstGeom>
          <a:solidFill>
            <a:srgbClr val="FAF9F8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44" name="Text 29"/>
          <p:cNvSpPr/>
          <p:nvPr/>
        </p:nvSpPr>
        <p:spPr>
          <a:xfrm>
            <a:off x="9504639" y="1773936"/>
            <a:ext cx="199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900" dirty="0"/>
          </a:p>
        </p:txBody>
      </p:sp>
      <p:pic>
        <p:nvPicPr>
          <p:cNvPr id="45" name="Image 12" descr="C:\Users\HP\Desktop\apartment-management\tools\deck\assets\icons\vercel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08671" y="2121408"/>
            <a:ext cx="384048" cy="347472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9468063" y="2523744"/>
            <a:ext cx="206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00" dirty="0"/>
          </a:p>
        </p:txBody>
      </p:sp>
      <p:pic>
        <p:nvPicPr>
          <p:cNvPr id="47" name="Image 13" descr="C:\Users\HP\Desktop\apartment-management\tools\deck\assets\icons\rende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08671" y="2743200"/>
            <a:ext cx="384048" cy="347472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9468063" y="3145536"/>
            <a:ext cx="206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connect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OmniHome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66928" y="1828800"/>
            <a:ext cx="2880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3232" y="196596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resident, and guard views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Vercel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069080" y="1691640"/>
            <a:ext cx="3246120" cy="2560320"/>
          </a:xfrm>
          <a:prstGeom prst="roundRect">
            <a:avLst>
              <a:gd name="adj" fmla="val 2857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06240" y="1810512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Render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validation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can() permission check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Tenant-scoped query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entry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909560" y="17830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46720" y="190195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via Prisma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societyId on every table, soft deletes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09560" y="32461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046720" y="3346704"/>
            <a:ext cx="3108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BullMQ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 reminders, recurring billing, platform billing, overdue checks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069080" y="4617720"/>
            <a:ext cx="7223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206240" y="4700016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services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Safepay hosted checkout and webhook   ·   Gmail SMTP notifications   ·   Google sign-in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47288" y="2670048"/>
            <a:ext cx="621792" cy="0"/>
          </a:xfrm>
          <a:prstGeom prst="line">
            <a:avLst/>
          </a:prstGeom>
          <a:noFill/>
          <a:ln w="15875">
            <a:solidFill>
              <a:srgbClr val="A8A29E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3383280" y="230428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in HTTP-only cookies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315200" y="2395728"/>
            <a:ext cx="594360" cy="0"/>
          </a:xfrm>
          <a:prstGeom prst="line">
            <a:avLst/>
          </a:prstGeom>
          <a:noFill/>
          <a:ln w="15875">
            <a:solidFill>
              <a:srgbClr val="A8A29E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7040880" y="2011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Prisma, societyId scoping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687568" y="4251960"/>
            <a:ext cx="0" cy="365760"/>
          </a:xfrm>
          <a:prstGeom prst="line">
            <a:avLst/>
          </a:prstGeom>
          <a:noFill/>
          <a:ln w="15875">
            <a:solidFill>
              <a:srgbClr val="A8A29E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5943600" y="42519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jobs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303520" y="4617720"/>
            <a:ext cx="0" cy="-365760"/>
          </a:xfrm>
          <a:prstGeom prst="line">
            <a:avLst/>
          </a:prstGeom>
          <a:noFill/>
          <a:ln w="15875">
            <a:solidFill>
              <a:srgbClr val="A8A29E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5577840" y="44074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Safepay webhook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66928" y="5897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reads the database except the API, and every write passes the same four gates.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basic CRUD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OmniHome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66928" y="1517904"/>
            <a:ext cx="541919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" y="1645920"/>
            <a:ext cx="384048" cy="38404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9" name="Image 0" descr="C:\Users\HP\Desktop\apartment-management\tools\deck\assets\icons\ic-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099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1655064"/>
            <a:ext cx="461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 is structural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49808" y="2084832"/>
            <a:ext cx="50534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go through one tenant-scoped repository layer. Cross-society access is not a missing WHERE clause waiting to happen.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05576" y="1517904"/>
            <a:ext cx="541919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33592" y="1645920"/>
            <a:ext cx="384048" cy="38404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4" name="Image 1" descr="C:\Users\HP\Desktop\apartment-management\tools\deck\assets\icons\ic-clipboard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600" y="170992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27368" y="1655064"/>
            <a:ext cx="461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is infrastructure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388456" y="2084832"/>
            <a:ext cx="50534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create, update, and status change records who, what, before, and after. Searchable in the admin UI, exportable at handover.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66928" y="3822192"/>
            <a:ext cx="541919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94944" y="3950208"/>
            <a:ext cx="384048" cy="38404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9" name="Image 2" descr="C:\Users\HP\Desktop\apartment-management\tools\deck\assets\icons\ic-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014216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959352"/>
            <a:ext cx="461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are rated on outcomes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749808" y="4389120"/>
            <a:ext cx="50534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 ticket captures a 1 to 5 rating with a comment. Average ratings appear when the next ticket is assigned. Vendors update work through revocable magic links, no accounts.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05576" y="3822192"/>
            <a:ext cx="541919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333592" y="3950208"/>
            <a:ext cx="384048" cy="38404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4" name="Image 3" descr="C:\Users\HP\Desktop\apartment-management\tools\deck\assets\icons\ic-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600" y="4014216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27368" y="3959352"/>
            <a:ext cx="461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never destroyed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388456" y="4389120"/>
            <a:ext cx="50534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soft deleted. Anything behind an audit entry or a financial record cannot silently vanish.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 HANDLING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 once, enforced everywhere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OmniHome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66928" y="1517904"/>
            <a:ext cx="543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76656" y="1627632"/>
            <a:ext cx="347472" cy="347472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9" name="Image 0" descr="C:\Users\HP\Desktop\apartment-management\tools\deck\assets\icons\ic-fingerpr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3856" y="1627632"/>
            <a:ext cx="470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permission gate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13232" y="1975104"/>
            <a:ext cx="51448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asks can(user, action, resource). Role rules live in one helper, never scattered through handlers.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66928" y="3127248"/>
            <a:ext cx="543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76656" y="3236976"/>
            <a:ext cx="347472" cy="347472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4" name="Image 1" descr="C:\Users\HP\Desktop\apartment-management\tools\deck\assets\icons\ic-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9184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3856" y="3236976"/>
            <a:ext cx="470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that can be revoked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713232" y="3584448"/>
            <a:ext cx="51448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and refresh tokens in HTTP-only cookies. A password reset bumps the token version and kills every other session.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66928" y="4736592"/>
            <a:ext cx="543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76656" y="4846320"/>
            <a:ext cx="347472" cy="347472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9" name="Image 2" descr="C:\Users\HP\Desktop\apartment-management\tools\deck\assets\icons\ic-key-rou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901184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33856" y="4846320"/>
            <a:ext cx="470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stored as hashes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713232" y="5193792"/>
            <a:ext cx="51448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and vendor tokens are 256-bit random values stored only as SHA-256 hashes. Single use for resets, revocable for vendors, rate limited at the boundary.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187288" y="1517904"/>
            <a:ext cx="543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297016" y="1627632"/>
            <a:ext cx="347472" cy="347472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4" name="Image 3" descr="C:\Users\HP\Desktop\apartment-management\tools\deck\assets\icons\ic-badge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880" y="1682496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754216" y="1627632"/>
            <a:ext cx="470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validated at the boundary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333592" y="1975104"/>
            <a:ext cx="51448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body passes a Zod schema before business logic runs. Limits mirror in the UI, but the server is the source of truth.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187288" y="3127248"/>
            <a:ext cx="543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6297016" y="3236976"/>
            <a:ext cx="347472" cy="347472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9" name="Image 4" descr="C:\Users\HP\Desktop\apartment-management\tools\deck\assets\icons\ic-shield-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1880" y="3291840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754216" y="3236976"/>
            <a:ext cx="470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identity verified server side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6333592" y="3584448"/>
            <a:ext cx="51448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 verifies the ID token with Google's own library, then issues the app's own session. Google's token never becomes the session.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6187288" y="4736592"/>
            <a:ext cx="5437480" cy="1188720"/>
          </a:xfrm>
          <a:prstGeom prst="roundRect">
            <a:avLst>
              <a:gd name="adj" fmla="val 6154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33" name="Text 25"/>
          <p:cNvSpPr/>
          <p:nvPr/>
        </p:nvSpPr>
        <p:spPr>
          <a:xfrm>
            <a:off x="6333592" y="4846320"/>
            <a:ext cx="51448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project plan:</a:t>
            </a:r>
            <a:endParaRPr lang="en-US" sz="10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"Cross-tenant data access is a critical bug, not a feature request."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0 through 9 built, tested, deployed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OmniHome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7" name="Image 0" descr="C:\Users\HP\Desktop\apartment-management\tools\deck\assets\icons\ic-badge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" y="1536192"/>
            <a:ext cx="28451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 -  Foundation</a:t>
            </a:r>
            <a:endParaRPr lang="en-US" sz="1100" dirty="0"/>
          </a:p>
        </p:txBody>
      </p:sp>
      <p:pic>
        <p:nvPicPr>
          <p:cNvPr id="9" name="Image 1" descr="C:\Users\HP\Desktop\apartment-management\tools\deck\assets\icons\ic-badge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5681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6112" y="1938528"/>
            <a:ext cx="28451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-  Core MVP</a:t>
            </a:r>
            <a:endParaRPr lang="en-US" sz="1100" dirty="0"/>
          </a:p>
        </p:txBody>
      </p:sp>
      <p:pic>
        <p:nvPicPr>
          <p:cNvPr id="11" name="Image 2" descr="C:\Users\HP\Desktop\apartment-management\tools\deck\assets\icons\ic-badge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59152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96112" y="2340864"/>
            <a:ext cx="28451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-  Money</a:t>
            </a:r>
            <a:endParaRPr lang="en-US" sz="1100" dirty="0"/>
          </a:p>
        </p:txBody>
      </p:sp>
      <p:pic>
        <p:nvPicPr>
          <p:cNvPr id="13" name="Image 3" descr="C:\Users\HP\Desktop\apartment-management\tools\deck\assets\icons\ic-badge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761488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96112" y="2743200"/>
            <a:ext cx="28451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-  Bookings</a:t>
            </a:r>
            <a:endParaRPr lang="en-US" sz="1100" dirty="0"/>
          </a:p>
        </p:txBody>
      </p:sp>
      <p:pic>
        <p:nvPicPr>
          <p:cNvPr id="15" name="Image 4" descr="C:\Users\HP\Desktop\apartment-management\tools\deck\assets\icons\ic-badge-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163824"/>
            <a:ext cx="237744" cy="23774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96112" y="3145536"/>
            <a:ext cx="28451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-  Visitors &amp; gate</a:t>
            </a:r>
            <a:endParaRPr lang="en-US" sz="1100" dirty="0"/>
          </a:p>
        </p:txBody>
      </p:sp>
      <p:pic>
        <p:nvPicPr>
          <p:cNvPr id="17" name="Image 5" descr="C:\Users\HP\Desktop\apartment-management\tools\deck\assets\icons\ic-badge-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2708" y="1554480"/>
            <a:ext cx="237744" cy="237744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161892" y="1536192"/>
            <a:ext cx="28451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 -  Governance</a:t>
            </a:r>
            <a:endParaRPr lang="en-US" sz="1100" dirty="0"/>
          </a:p>
        </p:txBody>
      </p:sp>
      <p:pic>
        <p:nvPicPr>
          <p:cNvPr id="19" name="Image 6" descr="C:\Users\HP\Desktop\apartment-management\tools\deck\assets\icons\ic-badge-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2708" y="1956816"/>
            <a:ext cx="237744" cy="237744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4161892" y="1938528"/>
            <a:ext cx="28451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 -  Documents &amp; audit</a:t>
            </a:r>
            <a:endParaRPr lang="en-US" sz="1100" dirty="0"/>
          </a:p>
        </p:txBody>
      </p:sp>
      <p:pic>
        <p:nvPicPr>
          <p:cNvPr id="21" name="Image 7" descr="C:\Users\HP\Desktop\apartment-management\tools\deck\assets\icons\ic-badge-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2708" y="2359152"/>
            <a:ext cx="237744" cy="237744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4161892" y="2340864"/>
            <a:ext cx="28451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 -  Engagement &amp; accountability</a:t>
            </a:r>
            <a:endParaRPr lang="en-US" sz="1100" dirty="0"/>
          </a:p>
        </p:txBody>
      </p:sp>
      <p:pic>
        <p:nvPicPr>
          <p:cNvPr id="23" name="Image 8" descr="C:\Users\HP\Desktop\apartment-management\tools\deck\assets\icons\ic-badge-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2708" y="2761488"/>
            <a:ext cx="237744" cy="237744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4161892" y="2743200"/>
            <a:ext cx="28451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  -  Safety, staff &amp; billing</a:t>
            </a:r>
            <a:endParaRPr lang="en-US" sz="1100" dirty="0"/>
          </a:p>
        </p:txBody>
      </p:sp>
      <p:pic>
        <p:nvPicPr>
          <p:cNvPr id="25" name="Image 9" descr="C:\Users\HP\Desktop\apartment-management\tools\deck\assets\icons\ic-badge-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2708" y="3163824"/>
            <a:ext cx="237744" cy="237744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4161892" y="3145536"/>
            <a:ext cx="28451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  -  Platform billing</a:t>
            </a:r>
            <a:endParaRPr lang="en-US" sz="1100" dirty="0"/>
          </a:p>
        </p:txBody>
      </p:sp>
      <p:sp>
        <p:nvSpPr>
          <p:cNvPr id="27" name="Text 14"/>
          <p:cNvSpPr/>
          <p:nvPr/>
        </p:nvSpPr>
        <p:spPr>
          <a:xfrm>
            <a:off x="566928" y="3657600"/>
            <a:ext cx="634867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shipped end to end: schema, API, UI, tests, and a manual test guide before the next started.</a:t>
            </a:r>
            <a:endParaRPr lang="en-US" sz="1050" dirty="0"/>
          </a:p>
        </p:txBody>
      </p:sp>
      <p:sp>
        <p:nvSpPr>
          <p:cNvPr id="28" name="Shape 15"/>
          <p:cNvSpPr/>
          <p:nvPr/>
        </p:nvSpPr>
        <p:spPr>
          <a:xfrm>
            <a:off x="7327087" y="1517904"/>
            <a:ext cx="4297680" cy="3383280"/>
          </a:xfrm>
          <a:prstGeom prst="roundRect">
            <a:avLst>
              <a:gd name="adj" fmla="val 2162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29" name="Text 16"/>
          <p:cNvSpPr/>
          <p:nvPr/>
        </p:nvSpPr>
        <p:spPr>
          <a:xfrm>
            <a:off x="7464247" y="16642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0" name="Text 17"/>
          <p:cNvSpPr/>
          <p:nvPr/>
        </p:nvSpPr>
        <p:spPr>
          <a:xfrm>
            <a:off x="7464247" y="202996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Phase 10: the AI layer</a:t>
            </a:r>
            <a:endParaRPr lang="en-US" sz="1100" dirty="0"/>
          </a:p>
        </p:txBody>
      </p:sp>
      <p:sp>
        <p:nvSpPr>
          <p:cNvPr id="31" name="Text 18"/>
          <p:cNvSpPr/>
          <p:nvPr/>
        </p:nvSpPr>
        <p:spPr>
          <a:xfrm>
            <a:off x="7464247" y="237744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Separate FastAPI service</a:t>
            </a:r>
            <a:endParaRPr lang="en-US" sz="1100" dirty="0"/>
          </a:p>
        </p:txBody>
      </p:sp>
      <p:sp>
        <p:nvSpPr>
          <p:cNvPr id="32" name="Text 19"/>
          <p:cNvSpPr/>
          <p:nvPr/>
        </p:nvSpPr>
        <p:spPr>
          <a:xfrm>
            <a:off x="7464247" y="272491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pgvector for semantic search over tickets and documents</a:t>
            </a:r>
            <a:endParaRPr lang="en-US" sz="1100" dirty="0"/>
          </a:p>
        </p:txBody>
      </p:sp>
      <p:sp>
        <p:nvSpPr>
          <p:cNvPr id="33" name="Text 20"/>
          <p:cNvSpPr/>
          <p:nvPr/>
        </p:nvSpPr>
        <p:spPr>
          <a:xfrm>
            <a:off x="7464247" y="307238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Vendor assignment suggestions</a:t>
            </a:r>
            <a:endParaRPr lang="en-US" sz="1100" dirty="0"/>
          </a:p>
        </p:txBody>
      </p:sp>
      <p:sp>
        <p:nvSpPr>
          <p:cNvPr id="34" name="Text 21"/>
          <p:cNvSpPr/>
          <p:nvPr/>
        </p:nvSpPr>
        <p:spPr>
          <a:xfrm>
            <a:off x="7464247" y="341985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Anomaly detection on payments and maintenance costs</a:t>
            </a:r>
            <a:endParaRPr lang="en-US" sz="1100" dirty="0"/>
          </a:p>
        </p:txBody>
      </p:sp>
      <p:sp>
        <p:nvSpPr>
          <p:cNvPr id="35" name="Shape 22"/>
          <p:cNvSpPr/>
          <p:nvPr/>
        </p:nvSpPr>
        <p:spPr>
          <a:xfrm>
            <a:off x="7327087" y="3794760"/>
            <a:ext cx="4297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36" name="Text 23"/>
          <p:cNvSpPr/>
          <p:nvPr/>
        </p:nvSpPr>
        <p:spPr>
          <a:xfrm>
            <a:off x="7464247" y="391363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open</a:t>
            </a:r>
            <a:endParaRPr lang="en-US" sz="1100" dirty="0"/>
          </a:p>
        </p:txBody>
      </p:sp>
      <p:sp>
        <p:nvSpPr>
          <p:cNvPr id="37" name="Text 24"/>
          <p:cNvSpPr/>
          <p:nvPr/>
        </p:nvSpPr>
        <p:spPr>
          <a:xfrm>
            <a:off x="7464247" y="42245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Cloudinary swap for local file storage</a:t>
            </a:r>
            <a:endParaRPr lang="en-US" sz="1050" dirty="0"/>
          </a:p>
        </p:txBody>
      </p:sp>
      <p:sp>
        <p:nvSpPr>
          <p:cNvPr id="38" name="Text 25"/>
          <p:cNvSpPr/>
          <p:nvPr/>
        </p:nvSpPr>
        <p:spPr>
          <a:xfrm>
            <a:off x="7464247" y="44988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Redis-backed rate limiting (in-memory today)</a:t>
            </a:r>
            <a:endParaRPr lang="en-US" sz="1050" dirty="0"/>
          </a:p>
        </p:txBody>
      </p:sp>
      <p:sp>
        <p:nvSpPr>
          <p:cNvPr id="39" name="Text 26"/>
          <p:cNvSpPr/>
          <p:nvPr/>
        </p:nvSpPr>
        <p:spPr>
          <a:xfrm>
            <a:off x="7464247" y="477316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Native mobile app (responsive web now)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1"/>
          <p:cNvSpPr/>
          <p:nvPr/>
        </p:nvSpPr>
        <p:spPr>
          <a:xfrm>
            <a:off x="-1371600" y="-1097280"/>
            <a:ext cx="4114800" cy="4114800"/>
          </a:xfrm>
          <a:prstGeom prst="ellipse">
            <a:avLst/>
          </a:prstGeom>
          <a:solidFill>
            <a:srgbClr val="1D4ED8">
              <a:alpha val="3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1D4ED8">
              <a:alpha val="3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828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OmniHome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 per society.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runs on a seeded society with committee, resident, and guard accounts.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4114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up to 15 units, every feature included, no card required.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56692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 ·  Express  ·  PostgreSQL  ·  Prisma  ·  Redis  ·  Safepay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6035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OmniHome  -  Residential Community Management</dc:title>
  <dc:subject>PptxGenJS Presentation</dc:subject>
  <dc:creator>OmniHome</dc:creator>
  <cp:lastModifiedBy>OmniHome</cp:lastModifiedBy>
  <cp:revision>1</cp:revision>
  <dcterms:created xsi:type="dcterms:W3CDTF">2026-09-15T05:22:22Z</dcterms:created>
  <dcterms:modified xsi:type="dcterms:W3CDTF">2026-09-15T05:22:22Z</dcterms:modified>
</cp:coreProperties>
</file>